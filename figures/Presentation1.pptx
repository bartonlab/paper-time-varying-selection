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BF01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2"/>
    <p:restoredTop sz="94553"/>
  </p:normalViewPr>
  <p:slideViewPr>
    <p:cSldViewPr snapToGrid="0">
      <p:cViewPr varScale="1">
        <p:scale>
          <a:sx n="117" d="100"/>
          <a:sy n="117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0530C-49A0-7BEF-C43B-E32DE1A30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67E5E6-DE2F-078D-19E2-49D32457A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C0B54-5409-6E62-9EBF-4F815214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5F80-F46F-9949-BCBA-C7012C997A8A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058AA-F0DF-12C2-4AB2-7C465F051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81909-F55B-8612-0A9F-CC41FCB5C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FBD6-3E4D-E44F-A474-BA9240A6E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02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723DD-1E3B-C3BA-3E35-E7EEB6584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273CE-26F3-A7B0-EE6C-FAA148DCA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F3026-5F5E-C00F-C699-AA26051F8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5F80-F46F-9949-BCBA-C7012C997A8A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D1051-02D9-58CA-0EB3-C9BA9775E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1E5B8-9E6C-E321-FAEC-89657A54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FBD6-3E4D-E44F-A474-BA9240A6E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9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FB4C0-1D9D-56E8-21A3-9573EA67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D71EB-BFA3-599D-969C-52F82C20E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4DB0A-A8CF-42D5-91C2-AA36F3C4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5F80-F46F-9949-BCBA-C7012C997A8A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BBEF5-5DF7-56FF-6C08-817F30F08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7440E-1573-0AA3-EE80-5E64C631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FBD6-3E4D-E44F-A474-BA9240A6E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57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56A24-AD3C-99E0-AA94-716881FB1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54080-D460-551A-F365-4A3567E9F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5B9AB-E886-620F-5FB9-B01CEB81A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502AB-4088-8F29-1CD8-D3E70C08E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5F80-F46F-9949-BCBA-C7012C997A8A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D9B78-17DE-DCF7-FD83-6E42BC607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DE260-F325-5E84-9299-955E9F951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FBD6-3E4D-E44F-A474-BA9240A6E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4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ECA90-EFD1-C1E6-4AD4-6458BCE30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04B38-69D0-1669-565E-46177E583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E08CF-33F5-D518-5438-7C3BCEB29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B6BAD8-EA5A-2545-4B77-583C5AFF67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579FFF-CAB6-3159-A4C0-867FAFC5DD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E26039-FEC1-5173-E99C-22FB9B17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5F80-F46F-9949-BCBA-C7012C997A8A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66CE87-3F8A-A71F-FC2C-1311BFE3B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74A28E-E605-A4CE-01CA-31D02FA4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FBD6-3E4D-E44F-A474-BA9240A6E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9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D50B9-D124-D998-3F9F-EF8BD2CBA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A7FFB-A181-5701-1016-363167F02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5F80-F46F-9949-BCBA-C7012C997A8A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26FD8D-5A78-2D0A-8AEA-3DEC9E298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6AC2C7-5BFF-9C50-2D02-1F1E162F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FBD6-3E4D-E44F-A474-BA9240A6E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1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37E908-F8EB-CA46-6EFA-7AF524F65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5F80-F46F-9949-BCBA-C7012C997A8A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5CEF8B-FD98-FCF5-58E3-07C8AFD22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C43AA-95D7-F632-6DAC-BBCEA31C6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FBD6-3E4D-E44F-A474-BA9240A6E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75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953C4-1967-0E7D-DE9F-621C8CBBB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68C6C-687C-8477-2F28-3256BE229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962FE-3C70-8DAC-42E8-9360BB235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26890-E93D-486E-F60B-D178A9BFF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5F80-F46F-9949-BCBA-C7012C997A8A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99375-46CB-0FBC-ECE1-35B90CD09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40ACA-3E88-6309-8A8E-A384ACF3E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FBD6-3E4D-E44F-A474-BA9240A6E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503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B0D11-C980-1EA1-ACB9-F599DDE10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9F4EFA-7085-CB49-741F-5D0CCC6A1C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AF3392-B117-16C0-5AFD-B8ADA45B4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B472D-4C17-CDEE-3863-1BA43762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5F80-F46F-9949-BCBA-C7012C997A8A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49894-D1A1-6A57-0B32-35D5DFD04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FB7C2-F09D-F028-2971-60FE29E2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FBD6-3E4D-E44F-A474-BA9240A6E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77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D01A3-2AFD-05FD-CFD1-2D1A0A22F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6609B3-9BA5-176F-D679-958198690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9BC75-3CAA-9E0F-5198-E7F5C5388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5F80-F46F-9949-BCBA-C7012C997A8A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7B0DD-4E70-52C8-B907-70F16541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7E0D0-5D85-243E-B404-0502C916D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FBD6-3E4D-E44F-A474-BA9240A6E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55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7023B8-49F5-3C5C-E8B8-9C8F9F0889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9D5C84-D30E-C1F5-9E48-B34B622D2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CFD3B-7553-B421-105C-8B8D42A7D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5F80-F46F-9949-BCBA-C7012C997A8A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3278D-BB4C-5AC4-8857-79CD310BA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A8050-C4B8-7689-E0E4-AAE209F0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FBD6-3E4D-E44F-A474-BA9240A6E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056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950457-FC70-5CE9-87B1-6F1245B8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9C4CF-4488-E809-FA2C-3E1A8167B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C4A9F-DE20-EACE-8DEE-11A8BE995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565F80-F46F-9949-BCBA-C7012C997A8A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F9000-5CDD-794B-F000-E31C56D95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661F0-A639-33EE-FA9A-1E8E25640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8BFBD6-3E4D-E44F-A474-BA9240A6E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239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3.emf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.emf"/><Relationship Id="rId17" Type="http://schemas.openxmlformats.org/officeDocument/2006/relationships/image" Target="../media/image7.emf"/><Relationship Id="rId2" Type="http://schemas.openxmlformats.org/officeDocument/2006/relationships/tags" Target="../tags/tag2.xml"/><Relationship Id="rId16" Type="http://schemas.openxmlformats.org/officeDocument/2006/relationships/image" Target="../media/image6.emf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.emf"/><Relationship Id="rId5" Type="http://schemas.openxmlformats.org/officeDocument/2006/relationships/tags" Target="../tags/tag5.xml"/><Relationship Id="rId15" Type="http://schemas.openxmlformats.org/officeDocument/2006/relationships/image" Target="../media/image5.emf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image" Target="../media/image4.emf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3.emf"/><Relationship Id="rId17" Type="http://schemas.openxmlformats.org/officeDocument/2006/relationships/image" Target="../media/image8.emf"/><Relationship Id="rId2" Type="http://schemas.openxmlformats.org/officeDocument/2006/relationships/tags" Target="../tags/tag11.xml"/><Relationship Id="rId16" Type="http://schemas.openxmlformats.org/officeDocument/2006/relationships/image" Target="../media/image7.emf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2.emf"/><Relationship Id="rId5" Type="http://schemas.openxmlformats.org/officeDocument/2006/relationships/tags" Target="../tags/tag14.xml"/><Relationship Id="rId15" Type="http://schemas.openxmlformats.org/officeDocument/2006/relationships/image" Target="../media/image6.emf"/><Relationship Id="rId10" Type="http://schemas.openxmlformats.org/officeDocument/2006/relationships/image" Target="../media/image1.emf"/><Relationship Id="rId4" Type="http://schemas.openxmlformats.org/officeDocument/2006/relationships/tags" Target="../tags/tag13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5.emf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image" Target="../media/image4.emf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3.emf"/><Relationship Id="rId5" Type="http://schemas.openxmlformats.org/officeDocument/2006/relationships/tags" Target="../tags/tag22.xml"/><Relationship Id="rId15" Type="http://schemas.openxmlformats.org/officeDocument/2006/relationships/image" Target="../media/image7.emf"/><Relationship Id="rId10" Type="http://schemas.openxmlformats.org/officeDocument/2006/relationships/image" Target="../media/image2.emf"/><Relationship Id="rId4" Type="http://schemas.openxmlformats.org/officeDocument/2006/relationships/tags" Target="../tags/tag21.xml"/><Relationship Id="rId9" Type="http://schemas.openxmlformats.org/officeDocument/2006/relationships/image" Target="../media/image1.emf"/><Relationship Id="rId1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780E148D-6417-D9B5-092E-768D5878387A}"/>
              </a:ext>
            </a:extLst>
          </p:cNvPr>
          <p:cNvCxnSpPr>
            <a:cxnSpLocks/>
          </p:cNvCxnSpPr>
          <p:nvPr/>
        </p:nvCxnSpPr>
        <p:spPr>
          <a:xfrm>
            <a:off x="4031009" y="2489975"/>
            <a:ext cx="6484591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43FA4B7C-4D7E-0A54-44AB-C5C4C96753AB}"/>
              </a:ext>
            </a:extLst>
          </p:cNvPr>
          <p:cNvSpPr txBox="1"/>
          <p:nvPr/>
        </p:nvSpPr>
        <p:spPr>
          <a:xfrm>
            <a:off x="8584822" y="2994690"/>
            <a:ext cx="247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altLang="zh-CN" dirty="0">
                <a:solidFill>
                  <a:srgbClr val="7030A0"/>
                </a:solidFill>
              </a:rPr>
              <a:t>U</a:t>
            </a:r>
            <a:r>
              <a:rPr lang="en-US" dirty="0">
                <a:solidFill>
                  <a:srgbClr val="7030A0"/>
                </a:solidFill>
              </a:rPr>
              <a:t>nexplained change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92D8C99-5E2F-4BF1-F5D1-0AC38C78B0A9}"/>
              </a:ext>
            </a:extLst>
          </p:cNvPr>
          <p:cNvCxnSpPr>
            <a:cxnSpLocks/>
          </p:cNvCxnSpPr>
          <p:nvPr/>
        </p:nvCxnSpPr>
        <p:spPr>
          <a:xfrm flipV="1">
            <a:off x="1451065" y="1992086"/>
            <a:ext cx="0" cy="19499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36B2ECD-48D8-0EC6-38C7-CF6604EE16CE}"/>
              </a:ext>
            </a:extLst>
          </p:cNvPr>
          <p:cNvCxnSpPr>
            <a:cxnSpLocks/>
          </p:cNvCxnSpPr>
          <p:nvPr/>
        </p:nvCxnSpPr>
        <p:spPr>
          <a:xfrm>
            <a:off x="1440452" y="4034832"/>
            <a:ext cx="27251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74E83AB-B853-BA40-A362-C26AA14171B5}"/>
              </a:ext>
            </a:extLst>
          </p:cNvPr>
          <p:cNvSpPr txBox="1"/>
          <p:nvPr/>
        </p:nvSpPr>
        <p:spPr>
          <a:xfrm>
            <a:off x="2387960" y="4523364"/>
            <a:ext cx="7598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altLang="zh-CN" sz="2000" dirty="0"/>
              <a:t>T</a:t>
            </a:r>
            <a:r>
              <a:rPr lang="en-US" sz="2000" dirty="0"/>
              <a:t>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8479B0-9894-4149-D526-41F03A45D1E3}"/>
              </a:ext>
            </a:extLst>
          </p:cNvPr>
          <p:cNvSpPr txBox="1"/>
          <p:nvPr/>
        </p:nvSpPr>
        <p:spPr>
          <a:xfrm rot="16200000">
            <a:off x="477301" y="2831333"/>
            <a:ext cx="1377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altLang="zh-CN" sz="2000" dirty="0"/>
              <a:t>Frequency</a:t>
            </a:r>
            <a:endParaRPr lang="en-US" sz="20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13AEC9-B7D0-3BE1-FDB4-B2DD614E7F6D}"/>
              </a:ext>
            </a:extLst>
          </p:cNvPr>
          <p:cNvSpPr/>
          <p:nvPr/>
        </p:nvSpPr>
        <p:spPr>
          <a:xfrm>
            <a:off x="1756583" y="3380014"/>
            <a:ext cx="97972" cy="979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FC568D-D5F4-B5FC-C34B-ECF247629A68}"/>
              </a:ext>
            </a:extLst>
          </p:cNvPr>
          <p:cNvSpPr/>
          <p:nvPr/>
        </p:nvSpPr>
        <p:spPr>
          <a:xfrm>
            <a:off x="3931223" y="2442387"/>
            <a:ext cx="97972" cy="979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\documentclass{article}&#10;\usepackage{amsmath}&#10;\pagestyle{empty}&#10;\begin{document}&#10;&#10;&#10;\begin{align*}&#10;x(t)&#10;\end{align*}&#10;&#10;\end{document}" title="IguanaTex Bitmap Display">
            <a:extLst>
              <a:ext uri="{FF2B5EF4-FFF2-40B4-BE49-F238E27FC236}">
                <a16:creationId xmlns:a16="http://schemas.microsoft.com/office/drawing/2014/main" id="{2984B587-6BE4-0864-48F4-62449C0F7C8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681249" y="3583956"/>
            <a:ext cx="365760" cy="228600"/>
          </a:xfrm>
          <a:prstGeom prst="rect">
            <a:avLst/>
          </a:prstGeom>
        </p:spPr>
      </p:pic>
      <p:pic>
        <p:nvPicPr>
          <p:cNvPr id="25" name="Picture 24" descr="\documentclass{article}&#10;\usepackage{amsmath}&#10;\pagestyle{empty}&#10;\begin{document}&#10;&#10;&#10;\begin{align*}&#10;x(t+\Delta t)&#10;\end{align*}&#10;&#10;\end{document}" title="IguanaTex Bitmap Display">
            <a:extLst>
              <a:ext uri="{FF2B5EF4-FFF2-40B4-BE49-F238E27FC236}">
                <a16:creationId xmlns:a16="http://schemas.microsoft.com/office/drawing/2014/main" id="{E8514F44-6738-C6B4-63AD-253DDA9F07A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512849" y="2177919"/>
            <a:ext cx="914400" cy="228600"/>
          </a:xfrm>
          <a:prstGeom prst="rect">
            <a:avLst/>
          </a:prstGeom>
        </p:spPr>
      </p:pic>
      <p:pic>
        <p:nvPicPr>
          <p:cNvPr id="31" name="Picture 30" descr="\documentclass{article}&#10;\usepackage{amsmath}&#10;\pagestyle{empty}&#10;\begin{document}&#10;&#10;&#10;\begin{align*}&#10;\Delta x = \&#10;x(t+\Delta t)- x(t)&#10;\end{align*}&#10;&#10;\end{document}" title="IguanaTex Bitmap Display">
            <a:extLst>
              <a:ext uri="{FF2B5EF4-FFF2-40B4-BE49-F238E27FC236}">
                <a16:creationId xmlns:a16="http://schemas.microsoft.com/office/drawing/2014/main" id="{8990D849-0B90-E168-C52C-CF5B15981EC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624904" y="2862150"/>
            <a:ext cx="2286000" cy="228600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7454CCE-67E7-8877-27FD-3C7A85DF6B4A}"/>
              </a:ext>
            </a:extLst>
          </p:cNvPr>
          <p:cNvCxnSpPr>
            <a:cxnSpLocks/>
          </p:cNvCxnSpPr>
          <p:nvPr/>
        </p:nvCxnSpPr>
        <p:spPr>
          <a:xfrm>
            <a:off x="3970049" y="2545312"/>
            <a:ext cx="0" cy="883688"/>
          </a:xfrm>
          <a:prstGeom prst="straightConnector1">
            <a:avLst/>
          </a:prstGeom>
          <a:ln w="63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BECB42C-1C47-3D27-34A4-88E74A5B0BC5}"/>
              </a:ext>
            </a:extLst>
          </p:cNvPr>
          <p:cNvCxnSpPr>
            <a:cxnSpLocks/>
          </p:cNvCxnSpPr>
          <p:nvPr/>
        </p:nvCxnSpPr>
        <p:spPr>
          <a:xfrm flipV="1">
            <a:off x="1805569" y="3424520"/>
            <a:ext cx="4845602" cy="448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A846A0C4-895E-F3ED-B56E-3EED4634A638}"/>
              </a:ext>
            </a:extLst>
          </p:cNvPr>
          <p:cNvSpPr/>
          <p:nvPr/>
        </p:nvSpPr>
        <p:spPr>
          <a:xfrm>
            <a:off x="6211596" y="2857888"/>
            <a:ext cx="97972" cy="97972"/>
          </a:xfrm>
          <a:prstGeom prst="ellipse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679EB44-171B-7196-34CC-24D1F415D94F}"/>
              </a:ext>
            </a:extLst>
          </p:cNvPr>
          <p:cNvCxnSpPr>
            <a:cxnSpLocks/>
          </p:cNvCxnSpPr>
          <p:nvPr/>
        </p:nvCxnSpPr>
        <p:spPr>
          <a:xfrm>
            <a:off x="6261223" y="2974026"/>
            <a:ext cx="0" cy="454974"/>
          </a:xfrm>
          <a:prstGeom prst="straightConnector1">
            <a:avLst/>
          </a:prstGeom>
          <a:ln w="6350">
            <a:solidFill>
              <a:srgbClr val="FF9300"/>
            </a:solidFill>
            <a:prstDash val="lg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84CBDDDE-06A6-89E7-1147-C111DC1F76C0}"/>
              </a:ext>
            </a:extLst>
          </p:cNvPr>
          <p:cNvSpPr/>
          <p:nvPr/>
        </p:nvSpPr>
        <p:spPr>
          <a:xfrm>
            <a:off x="9900959" y="2873528"/>
            <a:ext cx="97972" cy="97972"/>
          </a:xfrm>
          <a:prstGeom prst="ellipse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C2A2D49-6D39-DB37-2D33-7E4F1D3EB31E}"/>
              </a:ext>
            </a:extLst>
          </p:cNvPr>
          <p:cNvSpPr/>
          <p:nvPr/>
        </p:nvSpPr>
        <p:spPr>
          <a:xfrm>
            <a:off x="9906662" y="2419220"/>
            <a:ext cx="97972" cy="979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5C2D2BE-3CA4-80A4-C8E1-926DD0F79B59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9949945" y="2517192"/>
            <a:ext cx="641" cy="356336"/>
          </a:xfrm>
          <a:prstGeom prst="straightConnector1">
            <a:avLst/>
          </a:prstGeom>
          <a:ln w="6350">
            <a:solidFill>
              <a:srgbClr val="7030A0"/>
            </a:solidFill>
            <a:prstDash val="lg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54090CCE-C394-D2E0-6861-3E7651EEC3E2}"/>
              </a:ext>
            </a:extLst>
          </p:cNvPr>
          <p:cNvSpPr txBox="1"/>
          <p:nvPr/>
        </p:nvSpPr>
        <p:spPr>
          <a:xfrm>
            <a:off x="1599674" y="1433826"/>
            <a:ext cx="23112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sz="2000" dirty="0"/>
              <a:t>Observed frequency change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6706B39-064A-D2FD-1036-C5D6912E49E4}"/>
              </a:ext>
            </a:extLst>
          </p:cNvPr>
          <p:cNvSpPr txBox="1"/>
          <p:nvPr/>
        </p:nvSpPr>
        <p:spPr>
          <a:xfrm>
            <a:off x="4863773" y="3449392"/>
            <a:ext cx="3167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dirty="0">
                <a:solidFill>
                  <a:srgbClr val="FF9300"/>
                </a:solidFill>
              </a:rPr>
              <a:t>Expected flux contribution</a:t>
            </a:r>
          </a:p>
        </p:txBody>
      </p:sp>
      <p:pic>
        <p:nvPicPr>
          <p:cNvPr id="100" name="Picture 99" descr="\documentclass{article}&#10;\usepackage{amsmath}&#10;\usepackage{xcolor}&#10;\pagestyle{empty}&#10;\begin{document}&#10;&#10;&#10;\begin{align*}&#10;\textcolor{orange}{\Delta x_{flux}}&#10;\end{align*}&#10;&#10;\end{document}" title="IguanaTex Bitmap Display">
            <a:extLst>
              <a:ext uri="{FF2B5EF4-FFF2-40B4-BE49-F238E27FC236}">
                <a16:creationId xmlns:a16="http://schemas.microsoft.com/office/drawing/2014/main" id="{60FFB209-4881-9075-E595-DF4DA2EB594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5490460" y="3061607"/>
            <a:ext cx="685800" cy="228600"/>
          </a:xfrm>
          <a:prstGeom prst="rect">
            <a:avLst/>
          </a:prstGeom>
        </p:spPr>
      </p:pic>
      <p:pic>
        <p:nvPicPr>
          <p:cNvPr id="155" name="Picture 154" descr="\documentclass{article}&#10;\usepackage{amsmath}&#10;\usepackage{xcolor}&#10;\pagestyle{empty}&#10;\begin{document}&#10;&#10;&#10;\begin{align*}&#10;\Delta x - \textcolor{orange}{\Delta x_{flux}}\\&#10;%&amp;= \textcolor[RGB]{128,0,180}{C \cdot s}&#10;\end{align*}&#10;&#10;\end{document}" title="IguanaTex Bitmap Display">
            <a:extLst>
              <a:ext uri="{FF2B5EF4-FFF2-40B4-BE49-F238E27FC236}">
                <a16:creationId xmlns:a16="http://schemas.microsoft.com/office/drawing/2014/main" id="{F5AFA2DA-EBE5-58A2-874B-7F2C08B3449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584822" y="2565245"/>
            <a:ext cx="1280160" cy="228600"/>
          </a:xfrm>
          <a:prstGeom prst="rect">
            <a:avLst/>
          </a:prstGeom>
        </p:spPr>
      </p:pic>
      <p:pic>
        <p:nvPicPr>
          <p:cNvPr id="127" name="Picture 126" descr="\documentclass{article}&#10;\usepackage{amsmath}&#10;\pagestyle{empty}&#10;\begin{document}&#10;&#10;&#10;\begin{align*}&#10;t&#10;\end{align*}&#10;&#10;\end{document}" title="IguanaTex Bitmap Display">
            <a:extLst>
              <a:ext uri="{FF2B5EF4-FFF2-40B4-BE49-F238E27FC236}">
                <a16:creationId xmlns:a16="http://schemas.microsoft.com/office/drawing/2014/main" id="{C83D0425-45BC-2EE6-50A9-20569271C03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771279" y="4097089"/>
            <a:ext cx="68580" cy="160020"/>
          </a:xfrm>
          <a:prstGeom prst="rect">
            <a:avLst/>
          </a:prstGeom>
        </p:spPr>
      </p:pic>
      <p:pic>
        <p:nvPicPr>
          <p:cNvPr id="130" name="Picture 129" descr="\documentclass{article}&#10;\usepackage{amsmath}&#10;\pagestyle{empty}&#10;\begin{document}&#10;&#10;&#10;\begin{align*}&#10;t + \Delta t&#10;\end{align*}&#10;&#10;\end{document}" title="IguanaTex Bitmap Display">
            <a:extLst>
              <a:ext uri="{FF2B5EF4-FFF2-40B4-BE49-F238E27FC236}">
                <a16:creationId xmlns:a16="http://schemas.microsoft.com/office/drawing/2014/main" id="{53A06C9D-9700-82A4-2208-1614F28EFEC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3661439" y="4129808"/>
            <a:ext cx="617220" cy="182880"/>
          </a:xfrm>
          <a:prstGeom prst="rect">
            <a:avLst/>
          </a:prstGeom>
        </p:spPr>
      </p:pic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A04FA07-CDCE-CE75-FBA2-9514502ECF49}"/>
              </a:ext>
            </a:extLst>
          </p:cNvPr>
          <p:cNvCxnSpPr>
            <a:cxnSpLocks/>
          </p:cNvCxnSpPr>
          <p:nvPr/>
        </p:nvCxnSpPr>
        <p:spPr>
          <a:xfrm>
            <a:off x="1805569" y="3957735"/>
            <a:ext cx="0" cy="72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BE55C9C-70EE-92B7-DBDA-E02AA8E059FE}"/>
              </a:ext>
            </a:extLst>
          </p:cNvPr>
          <p:cNvCxnSpPr>
            <a:cxnSpLocks/>
          </p:cNvCxnSpPr>
          <p:nvPr/>
        </p:nvCxnSpPr>
        <p:spPr>
          <a:xfrm>
            <a:off x="3970049" y="3958458"/>
            <a:ext cx="0" cy="72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A685D02A-BA2A-79E4-9E9A-EC296ACAECB3}"/>
              </a:ext>
            </a:extLst>
          </p:cNvPr>
          <p:cNvCxnSpPr>
            <a:cxnSpLocks/>
          </p:cNvCxnSpPr>
          <p:nvPr/>
        </p:nvCxnSpPr>
        <p:spPr>
          <a:xfrm>
            <a:off x="6236830" y="2919740"/>
            <a:ext cx="3758639" cy="15640"/>
          </a:xfrm>
          <a:prstGeom prst="line">
            <a:avLst/>
          </a:prstGeom>
          <a:ln w="9525">
            <a:solidFill>
              <a:srgbClr val="FF93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C7A5A232-C754-0185-11A2-4F7600E6F37C}"/>
              </a:ext>
            </a:extLst>
          </p:cNvPr>
          <p:cNvCxnSpPr>
            <a:cxnSpLocks/>
          </p:cNvCxnSpPr>
          <p:nvPr/>
        </p:nvCxnSpPr>
        <p:spPr>
          <a:xfrm>
            <a:off x="4673509" y="4029735"/>
            <a:ext cx="27251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" name="Picture 162" descr="\documentclass{article}&#10;\usepackage{amsmath}&#10;\pagestyle{empty}&#10;\begin{document}&#10;&#10;&#10;\begin{align*}&#10;t + \Delta t&#10;\end{align*}&#10;&#10;\end{document}" title="IguanaTex Bitmap Display">
            <a:extLst>
              <a:ext uri="{FF2B5EF4-FFF2-40B4-BE49-F238E27FC236}">
                <a16:creationId xmlns:a16="http://schemas.microsoft.com/office/drawing/2014/main" id="{79961D6A-6CFA-CAB9-70D4-D874BF1EA850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5969210" y="4124711"/>
            <a:ext cx="617220" cy="182880"/>
          </a:xfrm>
          <a:prstGeom prst="rect">
            <a:avLst/>
          </a:prstGeom>
        </p:spPr>
      </p:pic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EA7D5AF8-E1C3-862F-CBAE-0D62EDC8B3FF}"/>
              </a:ext>
            </a:extLst>
          </p:cNvPr>
          <p:cNvCxnSpPr>
            <a:cxnSpLocks/>
          </p:cNvCxnSpPr>
          <p:nvPr/>
        </p:nvCxnSpPr>
        <p:spPr>
          <a:xfrm>
            <a:off x="6277820" y="3953361"/>
            <a:ext cx="0" cy="72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D1C288B2-9106-5800-7AF4-04E154E9FB4D}"/>
              </a:ext>
            </a:extLst>
          </p:cNvPr>
          <p:cNvCxnSpPr>
            <a:cxnSpLocks/>
          </p:cNvCxnSpPr>
          <p:nvPr/>
        </p:nvCxnSpPr>
        <p:spPr>
          <a:xfrm>
            <a:off x="8265792" y="4029735"/>
            <a:ext cx="27251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0" name="Picture 169" descr="\documentclass{article}&#10;\usepackage{amsmath}&#10;\pagestyle{empty}&#10;\begin{document}&#10;&#10;&#10;\begin{align*}&#10;t + \Delta t&#10;\end{align*}&#10;&#10;\end{document}" title="IguanaTex Bitmap Display">
            <a:extLst>
              <a:ext uri="{FF2B5EF4-FFF2-40B4-BE49-F238E27FC236}">
                <a16:creationId xmlns:a16="http://schemas.microsoft.com/office/drawing/2014/main" id="{27C2E768-ED60-11F0-33E0-29CC5E4CBD76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9686859" y="4124711"/>
            <a:ext cx="617220" cy="182880"/>
          </a:xfrm>
          <a:prstGeom prst="rect">
            <a:avLst/>
          </a:prstGeom>
        </p:spPr>
      </p:pic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FA452D78-7EC2-0E82-18E2-0908B737C636}"/>
              </a:ext>
            </a:extLst>
          </p:cNvPr>
          <p:cNvCxnSpPr>
            <a:cxnSpLocks/>
          </p:cNvCxnSpPr>
          <p:nvPr/>
        </p:nvCxnSpPr>
        <p:spPr>
          <a:xfrm>
            <a:off x="9995469" y="3953361"/>
            <a:ext cx="0" cy="72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E8C011D9-DF07-FAF4-94A7-DEE87156F119}"/>
              </a:ext>
            </a:extLst>
          </p:cNvPr>
          <p:cNvSpPr txBox="1"/>
          <p:nvPr/>
        </p:nvSpPr>
        <p:spPr>
          <a:xfrm>
            <a:off x="5796316" y="4523364"/>
            <a:ext cx="7598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altLang="zh-CN" sz="2000" dirty="0"/>
              <a:t>T</a:t>
            </a:r>
            <a:r>
              <a:rPr lang="en-US" sz="2000" dirty="0"/>
              <a:t>ime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3A7D819-1BF4-F9D2-2ED1-F5E9229A07BF}"/>
              </a:ext>
            </a:extLst>
          </p:cNvPr>
          <p:cNvSpPr txBox="1"/>
          <p:nvPr/>
        </p:nvSpPr>
        <p:spPr>
          <a:xfrm>
            <a:off x="9615525" y="4523364"/>
            <a:ext cx="7598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altLang="zh-CN" sz="2000" dirty="0"/>
              <a:t>T</a:t>
            </a:r>
            <a:r>
              <a:rPr lang="en-US" sz="2000" dirty="0"/>
              <a:t>ime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9D1573B9-DC8A-C150-2A35-A124D3150EFF}"/>
              </a:ext>
            </a:extLst>
          </p:cNvPr>
          <p:cNvCxnSpPr>
            <a:cxnSpLocks/>
          </p:cNvCxnSpPr>
          <p:nvPr/>
        </p:nvCxnSpPr>
        <p:spPr>
          <a:xfrm flipV="1">
            <a:off x="4681758" y="2019693"/>
            <a:ext cx="0" cy="19499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441B3C98-D260-4E6B-1D85-4836929541C1}"/>
              </a:ext>
            </a:extLst>
          </p:cNvPr>
          <p:cNvCxnSpPr>
            <a:cxnSpLocks/>
          </p:cNvCxnSpPr>
          <p:nvPr/>
        </p:nvCxnSpPr>
        <p:spPr>
          <a:xfrm flipV="1">
            <a:off x="8276388" y="2022305"/>
            <a:ext cx="0" cy="19499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2702B796-3608-C162-D521-C46E06E405EE}"/>
              </a:ext>
            </a:extLst>
          </p:cNvPr>
          <p:cNvSpPr txBox="1"/>
          <p:nvPr/>
        </p:nvSpPr>
        <p:spPr>
          <a:xfrm>
            <a:off x="5118161" y="1436144"/>
            <a:ext cx="20011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altLang="zh-CN" sz="2000" dirty="0"/>
              <a:t>Expected</a:t>
            </a:r>
            <a:r>
              <a:rPr lang="zh-CN" altLang="en-US" sz="2000" dirty="0"/>
              <a:t> </a:t>
            </a:r>
            <a:r>
              <a:rPr lang="en-US" altLang="zh-CN" sz="2000" dirty="0"/>
              <a:t>flux</a:t>
            </a:r>
            <a:r>
              <a:rPr lang="zh-CN" altLang="en-US" sz="2000" dirty="0"/>
              <a:t> </a:t>
            </a:r>
            <a:r>
              <a:rPr lang="en-US" altLang="zh-CN" sz="2000" dirty="0"/>
              <a:t>contribution</a:t>
            </a:r>
            <a:endParaRPr lang="en-US" sz="20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19766DE-1A63-8123-4EDE-5872C18C4EC0}"/>
              </a:ext>
            </a:extLst>
          </p:cNvPr>
          <p:cNvSpPr txBox="1"/>
          <p:nvPr/>
        </p:nvSpPr>
        <p:spPr>
          <a:xfrm>
            <a:off x="8422624" y="1433826"/>
            <a:ext cx="2617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altLang="zh-CN" sz="2000" dirty="0"/>
              <a:t>Residual interpreted as selection</a:t>
            </a:r>
          </a:p>
        </p:txBody>
      </p:sp>
    </p:spTree>
    <p:extLst>
      <p:ext uri="{BB962C8B-B14F-4D97-AF65-F5344CB8AC3E}">
        <p14:creationId xmlns:p14="http://schemas.microsoft.com/office/powerpoint/2010/main" val="3076825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FE5BCE-F70D-2795-5570-2028C27C33EA}"/>
              </a:ext>
            </a:extLst>
          </p:cNvPr>
          <p:cNvCxnSpPr>
            <a:cxnSpLocks/>
          </p:cNvCxnSpPr>
          <p:nvPr/>
        </p:nvCxnSpPr>
        <p:spPr>
          <a:xfrm>
            <a:off x="4031009" y="2489975"/>
            <a:ext cx="6484591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D7A3D77-EEBE-4FDA-16C7-F149511A2156}"/>
              </a:ext>
            </a:extLst>
          </p:cNvPr>
          <p:cNvSpPr txBox="1"/>
          <p:nvPr/>
        </p:nvSpPr>
        <p:spPr>
          <a:xfrm>
            <a:off x="8584822" y="2994690"/>
            <a:ext cx="2478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sz="1600" dirty="0">
                <a:solidFill>
                  <a:srgbClr val="7030A0"/>
                </a:solidFill>
              </a:rPr>
              <a:t>unexplained change</a:t>
            </a:r>
          </a:p>
          <a:p>
            <a:r>
              <a:rPr lang="en-US" sz="1600" dirty="0">
                <a:solidFill>
                  <a:srgbClr val="7030A0"/>
                </a:solidFill>
              </a:rPr>
              <a:t>→</a:t>
            </a:r>
            <a:r>
              <a:rPr lang="zh-CN" altLang="en-US" sz="1600" dirty="0">
                <a:solidFill>
                  <a:srgbClr val="7030A0"/>
                </a:solidFill>
              </a:rPr>
              <a:t> </a:t>
            </a:r>
            <a:r>
              <a:rPr lang="en-US" altLang="zh-CN" sz="1600" dirty="0">
                <a:solidFill>
                  <a:srgbClr val="7030A0"/>
                </a:solidFill>
              </a:rPr>
              <a:t>selection</a:t>
            </a:r>
            <a:endParaRPr lang="en-US" sz="1600" dirty="0">
              <a:solidFill>
                <a:srgbClr val="7030A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8D6E3FF-41B7-FD99-5FBA-8C905E71844D}"/>
              </a:ext>
            </a:extLst>
          </p:cNvPr>
          <p:cNvCxnSpPr>
            <a:cxnSpLocks/>
          </p:cNvCxnSpPr>
          <p:nvPr/>
        </p:nvCxnSpPr>
        <p:spPr>
          <a:xfrm flipV="1">
            <a:off x="1451065" y="1992086"/>
            <a:ext cx="0" cy="20376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E02F4FD-A823-6ABF-7406-29B4E0BD0270}"/>
              </a:ext>
            </a:extLst>
          </p:cNvPr>
          <p:cNvCxnSpPr>
            <a:cxnSpLocks/>
          </p:cNvCxnSpPr>
          <p:nvPr/>
        </p:nvCxnSpPr>
        <p:spPr>
          <a:xfrm>
            <a:off x="1440452" y="4034832"/>
            <a:ext cx="27251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C5B3984-FCDD-B6D3-04E8-77CB6BEE32B8}"/>
              </a:ext>
            </a:extLst>
          </p:cNvPr>
          <p:cNvSpPr txBox="1"/>
          <p:nvPr/>
        </p:nvSpPr>
        <p:spPr>
          <a:xfrm>
            <a:off x="2387960" y="4523364"/>
            <a:ext cx="7598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altLang="zh-CN" sz="2000" dirty="0"/>
              <a:t>T</a:t>
            </a:r>
            <a:r>
              <a:rPr lang="en-US" sz="2000" dirty="0"/>
              <a:t>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FD126E-93A5-B295-63D4-2394187982CC}"/>
              </a:ext>
            </a:extLst>
          </p:cNvPr>
          <p:cNvSpPr txBox="1"/>
          <p:nvPr/>
        </p:nvSpPr>
        <p:spPr>
          <a:xfrm rot="16200000">
            <a:off x="137506" y="2777257"/>
            <a:ext cx="2032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altLang="zh-CN" sz="2000" dirty="0"/>
              <a:t>Frequency</a:t>
            </a:r>
            <a:r>
              <a:rPr lang="zh-CN" altLang="en-US" sz="2000" dirty="0"/>
              <a:t>，</a:t>
            </a:r>
            <a:r>
              <a:rPr lang="en-US" altLang="zh-CN" sz="2000" dirty="0"/>
              <a:t>x</a:t>
            </a:r>
            <a:endParaRPr lang="en-US" sz="20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A558EB-D5F5-91DC-DEE1-75FDA9DD1E81}"/>
              </a:ext>
            </a:extLst>
          </p:cNvPr>
          <p:cNvSpPr/>
          <p:nvPr/>
        </p:nvSpPr>
        <p:spPr>
          <a:xfrm>
            <a:off x="1756583" y="3380014"/>
            <a:ext cx="97972" cy="979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9AB57A-CA3F-E454-D9C5-153FD2CBDCD3}"/>
              </a:ext>
            </a:extLst>
          </p:cNvPr>
          <p:cNvSpPr/>
          <p:nvPr/>
        </p:nvSpPr>
        <p:spPr>
          <a:xfrm>
            <a:off x="3931223" y="2442387"/>
            <a:ext cx="97972" cy="979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\documentclass{article}&#10;\usepackage{amsmath}&#10;\pagestyle{empty}&#10;\begin{document}&#10;&#10;&#10;\begin{align*}&#10;x(t)&#10;\end{align*}&#10;&#10;\end{document}" title="IguanaTex Bitmap Display">
            <a:extLst>
              <a:ext uri="{FF2B5EF4-FFF2-40B4-BE49-F238E27FC236}">
                <a16:creationId xmlns:a16="http://schemas.microsoft.com/office/drawing/2014/main" id="{21E9A01C-9C83-C072-1002-849B3F66ECB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681249" y="3583956"/>
            <a:ext cx="365760" cy="228600"/>
          </a:xfrm>
          <a:prstGeom prst="rect">
            <a:avLst/>
          </a:prstGeom>
        </p:spPr>
      </p:pic>
      <p:pic>
        <p:nvPicPr>
          <p:cNvPr id="11" name="Picture 10" descr="\documentclass{article}&#10;\usepackage{amsmath}&#10;\pagestyle{empty}&#10;\begin{document}&#10;&#10;&#10;\begin{align*}&#10;x(t+\Delta t)&#10;\end{align*}&#10;&#10;\end{document}" title="IguanaTex Bitmap Display">
            <a:extLst>
              <a:ext uri="{FF2B5EF4-FFF2-40B4-BE49-F238E27FC236}">
                <a16:creationId xmlns:a16="http://schemas.microsoft.com/office/drawing/2014/main" id="{09B6DE07-D81B-3675-948D-25CF1A82FB1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512849" y="2177919"/>
            <a:ext cx="914400" cy="228600"/>
          </a:xfrm>
          <a:prstGeom prst="rect">
            <a:avLst/>
          </a:prstGeom>
        </p:spPr>
      </p:pic>
      <p:pic>
        <p:nvPicPr>
          <p:cNvPr id="12" name="Picture 11" descr="\documentclass{article}&#10;\usepackage{amsmath}&#10;\pagestyle{empty}&#10;\begin{document}&#10;&#10;&#10;\begin{align*}&#10;\Delta x = \&#10;x(t+\Delta t)- x(t)&#10;\end{align*}&#10;&#10;\end{document}" title="IguanaTex Bitmap Display">
            <a:extLst>
              <a:ext uri="{FF2B5EF4-FFF2-40B4-BE49-F238E27FC236}">
                <a16:creationId xmlns:a16="http://schemas.microsoft.com/office/drawing/2014/main" id="{98A344AD-BFF0-8AA2-32A1-7C6B4CAB278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624904" y="2862150"/>
            <a:ext cx="2286000" cy="2286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7BF289-01B6-F5E8-2807-A89D6669D844}"/>
              </a:ext>
            </a:extLst>
          </p:cNvPr>
          <p:cNvCxnSpPr>
            <a:cxnSpLocks/>
          </p:cNvCxnSpPr>
          <p:nvPr/>
        </p:nvCxnSpPr>
        <p:spPr>
          <a:xfrm>
            <a:off x="3970049" y="2545312"/>
            <a:ext cx="0" cy="883688"/>
          </a:xfrm>
          <a:prstGeom prst="straightConnector1">
            <a:avLst/>
          </a:prstGeom>
          <a:ln w="63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B8A668-4DC8-6B44-31F9-B281764CF75B}"/>
              </a:ext>
            </a:extLst>
          </p:cNvPr>
          <p:cNvCxnSpPr>
            <a:cxnSpLocks/>
          </p:cNvCxnSpPr>
          <p:nvPr/>
        </p:nvCxnSpPr>
        <p:spPr>
          <a:xfrm flipV="1">
            <a:off x="1805569" y="3424520"/>
            <a:ext cx="4845602" cy="448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3541B56-6135-B405-E350-11C35EB2FBB1}"/>
              </a:ext>
            </a:extLst>
          </p:cNvPr>
          <p:cNvSpPr/>
          <p:nvPr/>
        </p:nvSpPr>
        <p:spPr>
          <a:xfrm>
            <a:off x="6211596" y="2857888"/>
            <a:ext cx="97972" cy="97972"/>
          </a:xfrm>
          <a:prstGeom prst="ellipse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9630F9D-4E6A-5D09-4212-A4E5F6076A74}"/>
              </a:ext>
            </a:extLst>
          </p:cNvPr>
          <p:cNvCxnSpPr>
            <a:cxnSpLocks/>
          </p:cNvCxnSpPr>
          <p:nvPr/>
        </p:nvCxnSpPr>
        <p:spPr>
          <a:xfrm>
            <a:off x="6261223" y="2974026"/>
            <a:ext cx="0" cy="454974"/>
          </a:xfrm>
          <a:prstGeom prst="straightConnector1">
            <a:avLst/>
          </a:prstGeom>
          <a:ln w="6350">
            <a:solidFill>
              <a:srgbClr val="FF9300"/>
            </a:solidFill>
            <a:prstDash val="lg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D16F151D-0EA1-D743-2B20-1925DB33D36C}"/>
              </a:ext>
            </a:extLst>
          </p:cNvPr>
          <p:cNvSpPr/>
          <p:nvPr/>
        </p:nvSpPr>
        <p:spPr>
          <a:xfrm>
            <a:off x="9900959" y="2873528"/>
            <a:ext cx="97972" cy="97972"/>
          </a:xfrm>
          <a:prstGeom prst="ellipse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099765D-74B8-AF12-1E9C-4C9966584741}"/>
              </a:ext>
            </a:extLst>
          </p:cNvPr>
          <p:cNvSpPr/>
          <p:nvPr/>
        </p:nvSpPr>
        <p:spPr>
          <a:xfrm>
            <a:off x="9906662" y="2419220"/>
            <a:ext cx="97972" cy="979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E10CC2C-8165-1D8A-6F8F-20A4F110412B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9949945" y="2517192"/>
            <a:ext cx="641" cy="356336"/>
          </a:xfrm>
          <a:prstGeom prst="straightConnector1">
            <a:avLst/>
          </a:prstGeom>
          <a:ln w="6350">
            <a:solidFill>
              <a:srgbClr val="7030A0"/>
            </a:solidFill>
            <a:prstDash val="lg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B6FD5E9-4ABA-1A5B-FF32-DCAA9CD6456B}"/>
              </a:ext>
            </a:extLst>
          </p:cNvPr>
          <p:cNvSpPr txBox="1"/>
          <p:nvPr/>
        </p:nvSpPr>
        <p:spPr>
          <a:xfrm>
            <a:off x="1599674" y="1433826"/>
            <a:ext cx="23112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sz="2000" dirty="0"/>
              <a:t>a</a:t>
            </a:r>
            <a:r>
              <a:rPr lang="en-US" altLang="zh-CN" sz="2000" dirty="0"/>
              <a:t>.</a:t>
            </a:r>
            <a:r>
              <a:rPr lang="zh-CN" altLang="en-US" sz="2000" dirty="0"/>
              <a:t> </a:t>
            </a:r>
            <a:r>
              <a:rPr lang="en-US" sz="2000" dirty="0"/>
              <a:t>Observed frequency change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0C76F9-C1D7-C4C8-1472-84C7C2937CBE}"/>
              </a:ext>
            </a:extLst>
          </p:cNvPr>
          <p:cNvSpPr txBox="1"/>
          <p:nvPr/>
        </p:nvSpPr>
        <p:spPr>
          <a:xfrm>
            <a:off x="4863773" y="3449392"/>
            <a:ext cx="3248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altLang="zh-CN" sz="1800" dirty="0">
                <a:solidFill>
                  <a:srgbClr val="FF9300"/>
                </a:solidFill>
              </a:rPr>
              <a:t>frequency</a:t>
            </a:r>
            <a:r>
              <a:rPr lang="zh-CN" altLang="en-US" sz="1800" dirty="0">
                <a:solidFill>
                  <a:srgbClr val="FF9300"/>
                </a:solidFill>
              </a:rPr>
              <a:t> </a:t>
            </a:r>
            <a:r>
              <a:rPr lang="en-US" altLang="zh-CN" sz="1800" dirty="0">
                <a:solidFill>
                  <a:srgbClr val="FF9300"/>
                </a:solidFill>
              </a:rPr>
              <a:t>change</a:t>
            </a:r>
            <a:r>
              <a:rPr lang="zh-CN" altLang="en-US" sz="1800" dirty="0">
                <a:solidFill>
                  <a:srgbClr val="FF9300"/>
                </a:solidFill>
              </a:rPr>
              <a:t> </a:t>
            </a:r>
            <a:r>
              <a:rPr lang="en-US" altLang="zh-CN" sz="1800" dirty="0">
                <a:solidFill>
                  <a:srgbClr val="FF9300"/>
                </a:solidFill>
              </a:rPr>
              <a:t>due</a:t>
            </a:r>
            <a:r>
              <a:rPr lang="zh-CN" altLang="en-US" sz="1800" dirty="0">
                <a:solidFill>
                  <a:srgbClr val="FF9300"/>
                </a:solidFill>
              </a:rPr>
              <a:t> </a:t>
            </a:r>
            <a:r>
              <a:rPr lang="en-US" altLang="zh-CN" sz="1800" dirty="0">
                <a:solidFill>
                  <a:srgbClr val="FF9300"/>
                </a:solidFill>
              </a:rPr>
              <a:t>to</a:t>
            </a:r>
            <a:r>
              <a:rPr lang="zh-CN" altLang="en-US" sz="1800" dirty="0">
                <a:solidFill>
                  <a:srgbClr val="FF9300"/>
                </a:solidFill>
              </a:rPr>
              <a:t> </a:t>
            </a:r>
            <a:r>
              <a:rPr lang="en-US" altLang="zh-CN" sz="1800" dirty="0">
                <a:solidFill>
                  <a:srgbClr val="FF9300"/>
                </a:solidFill>
              </a:rPr>
              <a:t>flux</a:t>
            </a:r>
            <a:r>
              <a:rPr lang="zh-CN" altLang="en-US" sz="1800" dirty="0">
                <a:solidFill>
                  <a:srgbClr val="FF9300"/>
                </a:solidFill>
              </a:rPr>
              <a:t> </a:t>
            </a:r>
            <a:r>
              <a:rPr lang="en-US" altLang="zh-CN" sz="1800" dirty="0">
                <a:solidFill>
                  <a:srgbClr val="FF9300"/>
                </a:solidFill>
              </a:rPr>
              <a:t>(mutation</a:t>
            </a:r>
            <a:r>
              <a:rPr lang="zh-CN" altLang="en-US" sz="1800" dirty="0">
                <a:solidFill>
                  <a:srgbClr val="FF9300"/>
                </a:solidFill>
              </a:rPr>
              <a:t> </a:t>
            </a:r>
            <a:r>
              <a:rPr lang="en-US" altLang="zh-CN" sz="1800" dirty="0">
                <a:solidFill>
                  <a:srgbClr val="FF9300"/>
                </a:solidFill>
              </a:rPr>
              <a:t>and</a:t>
            </a:r>
            <a:r>
              <a:rPr lang="zh-CN" altLang="en-US" sz="1800" dirty="0">
                <a:solidFill>
                  <a:srgbClr val="FF9300"/>
                </a:solidFill>
              </a:rPr>
              <a:t> </a:t>
            </a:r>
            <a:r>
              <a:rPr lang="en-US" altLang="zh-CN" sz="1800" dirty="0">
                <a:solidFill>
                  <a:srgbClr val="FF9300"/>
                </a:solidFill>
              </a:rPr>
              <a:t>recombination)</a:t>
            </a:r>
            <a:endParaRPr lang="en-US" sz="1800" dirty="0">
              <a:solidFill>
                <a:srgbClr val="FF9300"/>
              </a:solidFill>
            </a:endParaRPr>
          </a:p>
        </p:txBody>
      </p:sp>
      <p:pic>
        <p:nvPicPr>
          <p:cNvPr id="22" name="Picture 21" descr="\documentclass{article}&#10;\usepackage{amsmath}&#10;\usepackage{xcolor}&#10;\pagestyle{empty}&#10;\begin{document}&#10;&#10;&#10;\begin{align*}&#10;\textcolor{orange}{\Delta x_{flux}}&#10;\end{align*}&#10;&#10;\end{document}" title="IguanaTex Bitmap Display">
            <a:extLst>
              <a:ext uri="{FF2B5EF4-FFF2-40B4-BE49-F238E27FC236}">
                <a16:creationId xmlns:a16="http://schemas.microsoft.com/office/drawing/2014/main" id="{1F1B7CB2-2789-ED7B-D4E9-7C98C315EE8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490460" y="3061607"/>
            <a:ext cx="685800" cy="228600"/>
          </a:xfrm>
          <a:prstGeom prst="rect">
            <a:avLst/>
          </a:prstGeom>
        </p:spPr>
      </p:pic>
      <p:pic>
        <p:nvPicPr>
          <p:cNvPr id="23" name="Picture 22" descr="\documentclass{article}&#10;\usepackage{amsmath}&#10;\usepackage{xcolor}&#10;\pagestyle{empty}&#10;\begin{document}&#10;&#10;&#10;\begin{align*}&#10;\Delta x - \textcolor{orange}{\Delta x_{flux}}\\&#10;%&amp;= \textcolor[RGB]{128,0,180}{C \cdot s}&#10;\end{align*}&#10;&#10;\end{document}" title="IguanaTex Bitmap Display">
            <a:extLst>
              <a:ext uri="{FF2B5EF4-FFF2-40B4-BE49-F238E27FC236}">
                <a16:creationId xmlns:a16="http://schemas.microsoft.com/office/drawing/2014/main" id="{CAAE0C08-8F05-3354-092E-F4489222ABD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584822" y="2597903"/>
            <a:ext cx="1280160" cy="228600"/>
          </a:xfrm>
          <a:prstGeom prst="rect">
            <a:avLst/>
          </a:prstGeom>
        </p:spPr>
      </p:pic>
      <p:pic>
        <p:nvPicPr>
          <p:cNvPr id="24" name="Picture 23" descr="\documentclass{article}&#10;\usepackage{amsmath}&#10;\pagestyle{empty}&#10;\begin{document}&#10;&#10;&#10;\begin{align*}&#10;t&#10;\end{align*}&#10;&#10;\end{document}" title="IguanaTex Bitmap Display">
            <a:extLst>
              <a:ext uri="{FF2B5EF4-FFF2-40B4-BE49-F238E27FC236}">
                <a16:creationId xmlns:a16="http://schemas.microsoft.com/office/drawing/2014/main" id="{2921B471-79DD-2293-E8B6-3C0AB14A391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771279" y="4097089"/>
            <a:ext cx="68580" cy="160020"/>
          </a:xfrm>
          <a:prstGeom prst="rect">
            <a:avLst/>
          </a:prstGeom>
        </p:spPr>
      </p:pic>
      <p:pic>
        <p:nvPicPr>
          <p:cNvPr id="25" name="Picture 24" descr="\documentclass{article}&#10;\usepackage{amsmath}&#10;\pagestyle{empty}&#10;\begin{document}&#10;&#10;&#10;\begin{align*}&#10;t + \Delta t&#10;\end{align*}&#10;&#10;\end{document}" title="IguanaTex Bitmap Display">
            <a:extLst>
              <a:ext uri="{FF2B5EF4-FFF2-40B4-BE49-F238E27FC236}">
                <a16:creationId xmlns:a16="http://schemas.microsoft.com/office/drawing/2014/main" id="{3BE9E25A-10EA-5062-E66E-4C61637C4E7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3661439" y="4129808"/>
            <a:ext cx="617220" cy="18288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8064B50-94DF-2C48-943F-6D9985862CB2}"/>
              </a:ext>
            </a:extLst>
          </p:cNvPr>
          <p:cNvCxnSpPr>
            <a:cxnSpLocks/>
          </p:cNvCxnSpPr>
          <p:nvPr/>
        </p:nvCxnSpPr>
        <p:spPr>
          <a:xfrm>
            <a:off x="1805569" y="3957735"/>
            <a:ext cx="0" cy="72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92737C7-AD76-5CA2-8627-D6639C6F270B}"/>
              </a:ext>
            </a:extLst>
          </p:cNvPr>
          <p:cNvCxnSpPr>
            <a:cxnSpLocks/>
          </p:cNvCxnSpPr>
          <p:nvPr/>
        </p:nvCxnSpPr>
        <p:spPr>
          <a:xfrm>
            <a:off x="3970049" y="3958458"/>
            <a:ext cx="0" cy="72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52176-EA1B-4A56-69C5-2300C0403E14}"/>
              </a:ext>
            </a:extLst>
          </p:cNvPr>
          <p:cNvCxnSpPr>
            <a:cxnSpLocks/>
          </p:cNvCxnSpPr>
          <p:nvPr/>
        </p:nvCxnSpPr>
        <p:spPr>
          <a:xfrm>
            <a:off x="6236830" y="2919740"/>
            <a:ext cx="3758639" cy="15640"/>
          </a:xfrm>
          <a:prstGeom prst="line">
            <a:avLst/>
          </a:prstGeom>
          <a:ln w="9525">
            <a:solidFill>
              <a:srgbClr val="FF93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A2F2263-564D-564D-725E-7A427D3E9D25}"/>
              </a:ext>
            </a:extLst>
          </p:cNvPr>
          <p:cNvSpPr txBox="1"/>
          <p:nvPr/>
        </p:nvSpPr>
        <p:spPr>
          <a:xfrm>
            <a:off x="5045695" y="1436144"/>
            <a:ext cx="2073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altLang="zh-CN" sz="2000" dirty="0"/>
              <a:t>b.</a:t>
            </a:r>
            <a:r>
              <a:rPr lang="zh-CN" altLang="en-US" sz="2000" dirty="0"/>
              <a:t> </a:t>
            </a:r>
            <a:r>
              <a:rPr lang="en-US" altLang="zh-CN" sz="2000" dirty="0"/>
              <a:t>Expected</a:t>
            </a:r>
            <a:r>
              <a:rPr lang="zh-CN" altLang="en-US" sz="2000" dirty="0"/>
              <a:t> </a:t>
            </a:r>
            <a:r>
              <a:rPr lang="en-US" altLang="zh-CN" sz="2000" dirty="0"/>
              <a:t>flux</a:t>
            </a:r>
            <a:r>
              <a:rPr lang="zh-CN" altLang="en-US" sz="2000" dirty="0"/>
              <a:t> </a:t>
            </a:r>
            <a:r>
              <a:rPr lang="en-US" altLang="zh-CN" sz="2000" dirty="0"/>
              <a:t>contribution</a:t>
            </a:r>
            <a:endParaRPr lang="en-US" sz="2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9B1F89-4CE2-C2BB-253F-123E17FF6BAB}"/>
              </a:ext>
            </a:extLst>
          </p:cNvPr>
          <p:cNvSpPr txBox="1"/>
          <p:nvPr/>
        </p:nvSpPr>
        <p:spPr>
          <a:xfrm>
            <a:off x="8422624" y="1433826"/>
            <a:ext cx="2887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altLang="zh-CN" sz="2000" dirty="0"/>
              <a:t>c.</a:t>
            </a:r>
            <a:r>
              <a:rPr lang="zh-CN" altLang="en-US" sz="2000" dirty="0"/>
              <a:t> </a:t>
            </a:r>
            <a:r>
              <a:rPr lang="en-US" altLang="zh-CN" sz="2000" dirty="0"/>
              <a:t>Residual interpreted as selection</a:t>
            </a:r>
          </a:p>
        </p:txBody>
      </p:sp>
      <p:pic>
        <p:nvPicPr>
          <p:cNvPr id="43" name="Picture 42" descr="\documentclass{article}&#10;\usepackage{amsmath}&#10;\usepackage{xcolor}&#10;\pagestyle{empty}&#10;\begin{document}&#10;&#10;&#10;\begin{align*}&#10; \textcolor[RGB]{128,0,180}{C \cdot s}&#10;\end{align*}&#10;&#10;\end{document}" title="IguanaTex Bitmap Display">
            <a:extLst>
              <a:ext uri="{FF2B5EF4-FFF2-40B4-BE49-F238E27FC236}">
                <a16:creationId xmlns:a16="http://schemas.microsoft.com/office/drawing/2014/main" id="{4CAB368B-3C67-6516-F12C-BC24E2DFF40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9787464" y="3635066"/>
            <a:ext cx="434340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668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DF7D85-39C5-3814-9476-A8640068BDEC}"/>
              </a:ext>
            </a:extLst>
          </p:cNvPr>
          <p:cNvCxnSpPr>
            <a:cxnSpLocks/>
            <a:stCxn id="9" idx="6"/>
            <a:endCxn id="18" idx="2"/>
          </p:cNvCxnSpPr>
          <p:nvPr/>
        </p:nvCxnSpPr>
        <p:spPr>
          <a:xfrm flipV="1">
            <a:off x="4029195" y="2489978"/>
            <a:ext cx="2557324" cy="1395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BD5C1FE-F955-35B0-C79A-CEBE105F701B}"/>
              </a:ext>
            </a:extLst>
          </p:cNvPr>
          <p:cNvSpPr txBox="1"/>
          <p:nvPr/>
        </p:nvSpPr>
        <p:spPr>
          <a:xfrm>
            <a:off x="5476653" y="2994690"/>
            <a:ext cx="2646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altLang="zh-CN" dirty="0">
                <a:solidFill>
                  <a:srgbClr val="7030A0"/>
                </a:solidFill>
              </a:rPr>
              <a:t>U</a:t>
            </a:r>
            <a:r>
              <a:rPr lang="en-US" dirty="0">
                <a:solidFill>
                  <a:srgbClr val="7030A0"/>
                </a:solidFill>
              </a:rPr>
              <a:t>nexplained change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9B74776-CCC8-A99D-2D15-233B57E06F49}"/>
              </a:ext>
            </a:extLst>
          </p:cNvPr>
          <p:cNvCxnSpPr>
            <a:cxnSpLocks/>
          </p:cNvCxnSpPr>
          <p:nvPr/>
        </p:nvCxnSpPr>
        <p:spPr>
          <a:xfrm flipV="1">
            <a:off x="1451065" y="1992086"/>
            <a:ext cx="0" cy="19499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FEE545C-268E-8231-C55D-15620BB90E4B}"/>
              </a:ext>
            </a:extLst>
          </p:cNvPr>
          <p:cNvCxnSpPr>
            <a:cxnSpLocks/>
          </p:cNvCxnSpPr>
          <p:nvPr/>
        </p:nvCxnSpPr>
        <p:spPr>
          <a:xfrm>
            <a:off x="1440452" y="4034832"/>
            <a:ext cx="27251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9F3B0F8-C55C-6EF0-430B-3E3C968147B6}"/>
              </a:ext>
            </a:extLst>
          </p:cNvPr>
          <p:cNvSpPr txBox="1"/>
          <p:nvPr/>
        </p:nvSpPr>
        <p:spPr>
          <a:xfrm>
            <a:off x="2387960" y="4523364"/>
            <a:ext cx="7598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altLang="zh-CN" sz="2000" dirty="0"/>
              <a:t>T</a:t>
            </a:r>
            <a:r>
              <a:rPr lang="en-US" sz="2000" dirty="0"/>
              <a:t>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EC78B3-0F33-8AE9-0EF6-9527DE2B5751}"/>
              </a:ext>
            </a:extLst>
          </p:cNvPr>
          <p:cNvSpPr txBox="1"/>
          <p:nvPr/>
        </p:nvSpPr>
        <p:spPr>
          <a:xfrm rot="16200000">
            <a:off x="207045" y="2751033"/>
            <a:ext cx="1918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altLang="zh-CN" sz="2000" dirty="0"/>
              <a:t>Frequency</a:t>
            </a:r>
            <a:r>
              <a:rPr lang="zh-CN" altLang="en-US" sz="2000" dirty="0"/>
              <a:t>，</a:t>
            </a:r>
            <a:r>
              <a:rPr lang="en-US" altLang="zh-CN" sz="2000" dirty="0"/>
              <a:t>x</a:t>
            </a:r>
            <a:endParaRPr lang="en-US" sz="20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A83460-4914-E225-2D1A-0B17D1F6005A}"/>
              </a:ext>
            </a:extLst>
          </p:cNvPr>
          <p:cNvSpPr/>
          <p:nvPr/>
        </p:nvSpPr>
        <p:spPr>
          <a:xfrm>
            <a:off x="1756583" y="3380014"/>
            <a:ext cx="97972" cy="979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473422F-8D78-B218-E605-56A886F5D80C}"/>
              </a:ext>
            </a:extLst>
          </p:cNvPr>
          <p:cNvSpPr/>
          <p:nvPr/>
        </p:nvSpPr>
        <p:spPr>
          <a:xfrm>
            <a:off x="3931223" y="2442387"/>
            <a:ext cx="97972" cy="979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\documentclass{article}&#10;\usepackage{amsmath}&#10;\pagestyle{empty}&#10;\begin{document}&#10;&#10;&#10;\begin{align*}&#10;x(t)&#10;\end{align*}&#10;&#10;\end{document}" title="IguanaTex Bitmap Display">
            <a:extLst>
              <a:ext uri="{FF2B5EF4-FFF2-40B4-BE49-F238E27FC236}">
                <a16:creationId xmlns:a16="http://schemas.microsoft.com/office/drawing/2014/main" id="{85F29965-99F9-9D71-0B8F-4762C78ED16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681249" y="3583956"/>
            <a:ext cx="365760" cy="228600"/>
          </a:xfrm>
          <a:prstGeom prst="rect">
            <a:avLst/>
          </a:prstGeom>
        </p:spPr>
      </p:pic>
      <p:pic>
        <p:nvPicPr>
          <p:cNvPr id="11" name="Picture 10" descr="\documentclass{article}&#10;\usepackage{amsmath}&#10;\pagestyle{empty}&#10;\begin{document}&#10;&#10;&#10;\begin{align*}&#10;x(t+\Delta t)&#10;\end{align*}&#10;&#10;\end{document}" title="IguanaTex Bitmap Display">
            <a:extLst>
              <a:ext uri="{FF2B5EF4-FFF2-40B4-BE49-F238E27FC236}">
                <a16:creationId xmlns:a16="http://schemas.microsoft.com/office/drawing/2014/main" id="{B5EC38A4-DC1F-C039-E4F7-608FB59E5FD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512849" y="2177919"/>
            <a:ext cx="914400" cy="228600"/>
          </a:xfrm>
          <a:prstGeom prst="rect">
            <a:avLst/>
          </a:prstGeom>
        </p:spPr>
      </p:pic>
      <p:pic>
        <p:nvPicPr>
          <p:cNvPr id="12" name="Picture 11" descr="\documentclass{article}&#10;\usepackage{amsmath}&#10;\pagestyle{empty}&#10;\begin{document}&#10;&#10;&#10;\begin{align*}&#10;\Delta x = \&#10;x(t+\Delta t)- x(t)&#10;\end{align*}&#10;&#10;\end{document}" title="IguanaTex Bitmap Display">
            <a:extLst>
              <a:ext uri="{FF2B5EF4-FFF2-40B4-BE49-F238E27FC236}">
                <a16:creationId xmlns:a16="http://schemas.microsoft.com/office/drawing/2014/main" id="{AAE8A067-B6D3-D6AE-6346-057E7F485EA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624904" y="2881632"/>
            <a:ext cx="2286000" cy="2286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304BACC-8C4A-6005-815D-00EDD16DBBF0}"/>
              </a:ext>
            </a:extLst>
          </p:cNvPr>
          <p:cNvCxnSpPr>
            <a:cxnSpLocks/>
          </p:cNvCxnSpPr>
          <p:nvPr/>
        </p:nvCxnSpPr>
        <p:spPr>
          <a:xfrm>
            <a:off x="3970049" y="2545312"/>
            <a:ext cx="0" cy="883688"/>
          </a:xfrm>
          <a:prstGeom prst="straightConnector1">
            <a:avLst/>
          </a:prstGeom>
          <a:ln w="63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F87BD2-0CB0-96F1-3E6E-1F23CB17A0D6}"/>
              </a:ext>
            </a:extLst>
          </p:cNvPr>
          <p:cNvCxnSpPr>
            <a:cxnSpLocks/>
          </p:cNvCxnSpPr>
          <p:nvPr/>
        </p:nvCxnSpPr>
        <p:spPr>
          <a:xfrm>
            <a:off x="1805569" y="3429000"/>
            <a:ext cx="3310717" cy="6386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3F195A63-2873-CE94-2431-5D6163E6355C}"/>
              </a:ext>
            </a:extLst>
          </p:cNvPr>
          <p:cNvSpPr/>
          <p:nvPr/>
        </p:nvSpPr>
        <p:spPr>
          <a:xfrm>
            <a:off x="4839996" y="2857888"/>
            <a:ext cx="97972" cy="97972"/>
          </a:xfrm>
          <a:prstGeom prst="ellipse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D964D37-E9BA-EF0C-9E2B-6D6A1CF86F18}"/>
              </a:ext>
            </a:extLst>
          </p:cNvPr>
          <p:cNvCxnSpPr>
            <a:cxnSpLocks/>
          </p:cNvCxnSpPr>
          <p:nvPr/>
        </p:nvCxnSpPr>
        <p:spPr>
          <a:xfrm>
            <a:off x="4889623" y="2974026"/>
            <a:ext cx="0" cy="454974"/>
          </a:xfrm>
          <a:prstGeom prst="straightConnector1">
            <a:avLst/>
          </a:prstGeom>
          <a:ln w="6350">
            <a:solidFill>
              <a:srgbClr val="FF9300"/>
            </a:solidFill>
            <a:prstDash val="lg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DBD2693A-5270-F316-4396-05BD97063336}"/>
              </a:ext>
            </a:extLst>
          </p:cNvPr>
          <p:cNvSpPr/>
          <p:nvPr/>
        </p:nvSpPr>
        <p:spPr>
          <a:xfrm>
            <a:off x="6580816" y="2873528"/>
            <a:ext cx="97972" cy="97972"/>
          </a:xfrm>
          <a:prstGeom prst="ellipse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6366676-8F17-3232-5310-5EE62C014485}"/>
              </a:ext>
            </a:extLst>
          </p:cNvPr>
          <p:cNvSpPr/>
          <p:nvPr/>
        </p:nvSpPr>
        <p:spPr>
          <a:xfrm>
            <a:off x="6586519" y="2440992"/>
            <a:ext cx="97972" cy="979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4683452-6D39-8C98-2CD1-55E1025DA613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6629802" y="2517192"/>
            <a:ext cx="641" cy="356336"/>
          </a:xfrm>
          <a:prstGeom prst="straightConnector1">
            <a:avLst/>
          </a:prstGeom>
          <a:ln w="6350">
            <a:solidFill>
              <a:srgbClr val="7030A0"/>
            </a:solidFill>
            <a:prstDash val="lg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F3EF4E8-455D-F8B4-26E4-6BAF689D69B5}"/>
              </a:ext>
            </a:extLst>
          </p:cNvPr>
          <p:cNvSpPr txBox="1"/>
          <p:nvPr/>
        </p:nvSpPr>
        <p:spPr>
          <a:xfrm>
            <a:off x="3704982" y="3484373"/>
            <a:ext cx="3167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>
                <a:latin typeface="Avenir Light" panose="020B0402020203020204" pitchFamily="34" charset="77"/>
                <a:cs typeface="CMU Bright Roman"/>
              </a:defRPr>
            </a:lvl1pPr>
          </a:lstStyle>
          <a:p>
            <a:r>
              <a:rPr lang="en-US" dirty="0">
                <a:solidFill>
                  <a:srgbClr val="FF9300"/>
                </a:solidFill>
              </a:rPr>
              <a:t>Expected flux contribution</a:t>
            </a:r>
          </a:p>
        </p:txBody>
      </p:sp>
      <p:pic>
        <p:nvPicPr>
          <p:cNvPr id="21" name="Picture 20" descr="\documentclass{article}&#10;\usepackage{amsmath}&#10;\usepackage{xcolor}&#10;\pagestyle{empty}&#10;\begin{document}&#10;&#10;&#10;\begin{align*}&#10;\textcolor{orange}{\Delta x_{flux}}&#10;\end{align*}&#10;&#10;\end{document}" title="IguanaTex Bitmap Display">
            <a:extLst>
              <a:ext uri="{FF2B5EF4-FFF2-40B4-BE49-F238E27FC236}">
                <a16:creationId xmlns:a16="http://schemas.microsoft.com/office/drawing/2014/main" id="{8DEDF978-38B1-8262-D6EC-2E9635081AC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118860" y="3061607"/>
            <a:ext cx="685800" cy="228600"/>
          </a:xfrm>
          <a:prstGeom prst="rect">
            <a:avLst/>
          </a:prstGeom>
        </p:spPr>
      </p:pic>
      <p:pic>
        <p:nvPicPr>
          <p:cNvPr id="22" name="Picture 21" descr="\documentclass{article}&#10;\usepackage{amsmath}&#10;\usepackage{xcolor}&#10;\pagestyle{empty}&#10;\begin{document}&#10;&#10;&#10;\begin{align*}&#10;\Delta x - \textcolor{orange}{\Delta x_{flux}}\\&#10;%&amp;= \textcolor[RGB]{128,0,180}{C \cdot s}&#10;\end{align*}&#10;&#10;\end{document}" title="IguanaTex Bitmap Display">
            <a:extLst>
              <a:ext uri="{FF2B5EF4-FFF2-40B4-BE49-F238E27FC236}">
                <a16:creationId xmlns:a16="http://schemas.microsoft.com/office/drawing/2014/main" id="{721AEDC6-DE33-C121-F9A4-38F0E629A24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264679" y="2602720"/>
            <a:ext cx="1280160" cy="228600"/>
          </a:xfrm>
          <a:prstGeom prst="rect">
            <a:avLst/>
          </a:prstGeom>
        </p:spPr>
      </p:pic>
      <p:pic>
        <p:nvPicPr>
          <p:cNvPr id="23" name="Picture 22" descr="\documentclass{article}&#10;\usepackage{amsmath}&#10;\pagestyle{empty}&#10;\begin{document}&#10;&#10;&#10;\begin{align*}&#10;t&#10;\end{align*}&#10;&#10;\end{document}" title="IguanaTex Bitmap Display">
            <a:extLst>
              <a:ext uri="{FF2B5EF4-FFF2-40B4-BE49-F238E27FC236}">
                <a16:creationId xmlns:a16="http://schemas.microsoft.com/office/drawing/2014/main" id="{597EA799-1542-98FF-8E09-17E1C325E84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771279" y="4097089"/>
            <a:ext cx="68580" cy="160020"/>
          </a:xfrm>
          <a:prstGeom prst="rect">
            <a:avLst/>
          </a:prstGeom>
        </p:spPr>
      </p:pic>
      <p:pic>
        <p:nvPicPr>
          <p:cNvPr id="24" name="Picture 23" descr="\documentclass{article}&#10;\usepackage{amsmath}&#10;\pagestyle{empty}&#10;\begin{document}&#10;&#10;&#10;\begin{align*}&#10;t + \Delta t&#10;\end{align*}&#10;&#10;\end{document}" title="IguanaTex Bitmap Display">
            <a:extLst>
              <a:ext uri="{FF2B5EF4-FFF2-40B4-BE49-F238E27FC236}">
                <a16:creationId xmlns:a16="http://schemas.microsoft.com/office/drawing/2014/main" id="{46769DEB-5C8C-2669-D8DF-BFA97B777F2D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3661439" y="4129808"/>
            <a:ext cx="617220" cy="18288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9D23391-B369-1906-D729-C11CAFFAEC29}"/>
              </a:ext>
            </a:extLst>
          </p:cNvPr>
          <p:cNvCxnSpPr>
            <a:cxnSpLocks/>
          </p:cNvCxnSpPr>
          <p:nvPr/>
        </p:nvCxnSpPr>
        <p:spPr>
          <a:xfrm>
            <a:off x="1805569" y="3957735"/>
            <a:ext cx="0" cy="72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E7744CC-0279-6F96-BF6B-7D07B775FD11}"/>
              </a:ext>
            </a:extLst>
          </p:cNvPr>
          <p:cNvCxnSpPr>
            <a:cxnSpLocks/>
          </p:cNvCxnSpPr>
          <p:nvPr/>
        </p:nvCxnSpPr>
        <p:spPr>
          <a:xfrm>
            <a:off x="3970049" y="3958458"/>
            <a:ext cx="0" cy="72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588F5E0-115D-62D5-7E7A-C93E167E91DD}"/>
              </a:ext>
            </a:extLst>
          </p:cNvPr>
          <p:cNvCxnSpPr>
            <a:cxnSpLocks/>
          </p:cNvCxnSpPr>
          <p:nvPr/>
        </p:nvCxnSpPr>
        <p:spPr>
          <a:xfrm>
            <a:off x="4288287" y="2919740"/>
            <a:ext cx="3758639" cy="15640"/>
          </a:xfrm>
          <a:prstGeom prst="line">
            <a:avLst/>
          </a:prstGeom>
          <a:ln w="9525">
            <a:solidFill>
              <a:srgbClr val="FF93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8327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16"/>
  <p:tag name="OUTPUTTYPE" val="PDF"/>
  <p:tag name="IGUANATEXVERSION" val="160"/>
  <p:tag name="LATEXADDIN" val="\documentclass{article}&#10;\usepackage{amsmath}&#10;\pagestyle{empty}&#10;\begin{document}&#10;&#10;&#10;\begin{align*}&#10;x(t)&#10;\end{align*}&#10;&#10;\end{document}"/>
  <p:tag name="IGUANATEXSIZE" val="18"/>
  <p:tag name="IGUANATEXCURSOR" val="100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40"/>
  <p:tag name="OUTPUTTYPE" val="PDF"/>
  <p:tag name="IGUANATEXVERSION" val="160"/>
  <p:tag name="LATEXADDIN" val="\documentclass{article}&#10;\usepackage{amsmath}&#10;\pagestyle{empty}&#10;\begin{document}&#10;&#10;&#10;\begin{align*}&#10;x(t+\Delta t)&#10;\end{align*}&#10;&#10;\end{document}"/>
  <p:tag name="IGUANATEXSIZE" val="18"/>
  <p:tag name="IGUANATEXCURSOR" val="109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100"/>
  <p:tag name="OUTPUTTYPE" val="PDF"/>
  <p:tag name="IGUANATEXVERSION" val="160"/>
  <p:tag name="LATEXADDIN" val="\documentclass{article}&#10;\usepackage{amsmath}&#10;\pagestyle{empty}&#10;\begin{document}&#10;&#10;&#10;\begin{align*}&#10;\Delta x = \&#10;x(t+\Delta t)- x(t)&#10;\end{align*}&#10;&#10;\end{document}"/>
  <p:tag name="IGUANATEXSIZE" val="18"/>
  <p:tag name="IGUANATEXCURSOR" val="110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30"/>
  <p:tag name="OUTPUTTYPE" val="PDF"/>
  <p:tag name="IGUANATEXVERSION" val="160"/>
  <p:tag name="LATEXADDIN" val="\documentclass{article}&#10;\usepackage{amsmath}&#10;\usepackage{xcolor}&#10;\pagestyle{empty}&#10;\begin{document}&#10;&#10;&#10;\begin{align*}&#10;\textcolor{orange}{\Delta x_{flux}}&#10;\end{align*}&#10;&#10;\end{document}"/>
  <p:tag name="IGUANATEXSIZE" val="18"/>
  <p:tag name="IGUANATEXCURSOR" val="134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56"/>
  <p:tag name="OUTPUTTYPE" val="PDF"/>
  <p:tag name="IGUANATEXVERSION" val="160"/>
  <p:tag name="LATEXADDIN" val="\documentclass{article}&#10;\usepackage{amsmath}&#10;\usepackage{xcolor}&#10;\pagestyle{empty}&#10;\begin{document}&#10;&#10;&#10;\begin{align*}&#10;\Delta x - \textcolor{orange}{\Delta x_{flux}}\\&#10;%&amp;= \textcolor[RGB]{128,0,180}{C \cdot s}&#10;\end{align*}&#10;&#10;\end{document}"/>
  <p:tag name="IGUANATEXSIZE" val="18"/>
  <p:tag name="IGUANATEXCURSOR" val="117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"/>
  <p:tag name="ORIGINALWIDTH" val="3"/>
  <p:tag name="OUTPUTTYPE" val="PDF"/>
  <p:tag name="IGUANATEXVERSION" val="160"/>
  <p:tag name="LATEXADDIN" val="\documentclass{article}&#10;\usepackage{amsmath}&#10;\pagestyle{empty}&#10;\begin{document}&#10;&#10;&#10;\begin{align*}&#10;t&#10;\end{align*}&#10;&#10;\end{document}"/>
  <p:tag name="IGUANATEXSIZE" val="18"/>
  <p:tag name="IGUANATEXCURSOR" val="98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27"/>
  <p:tag name="OUTPUTTYPE" val="PDF"/>
  <p:tag name="IGUANATEXVERSION" val="160"/>
  <p:tag name="LATEXADDIN" val="\documentclass{article}&#10;\usepackage{amsmath}&#10;\pagestyle{empty}&#10;\begin{document}&#10;&#10;&#10;\begin{align*}&#10;t + \Delta t&#10;\end{align*}&#10;&#10;\end{document}"/>
  <p:tag name="IGUANATEXSIZE" val="18"/>
  <p:tag name="IGUANATEXCURSOR" val="109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27"/>
  <p:tag name="OUTPUTTYPE" val="PDF"/>
  <p:tag name="IGUANATEXVERSION" val="160"/>
  <p:tag name="LATEXADDIN" val="\documentclass{article}&#10;\usepackage{amsmath}&#10;\pagestyle{empty}&#10;\begin{document}&#10;&#10;&#10;\begin{align*}&#10;t + \Delta t&#10;\end{align*}&#10;&#10;\end{document}"/>
  <p:tag name="IGUANATEXSIZE" val="18"/>
  <p:tag name="IGUANATEXCURSOR" val="109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27"/>
  <p:tag name="OUTPUTTYPE" val="PDF"/>
  <p:tag name="IGUANATEXVERSION" val="160"/>
  <p:tag name="LATEXADDIN" val="\documentclass{article}&#10;\usepackage{amsmath}&#10;\pagestyle{empty}&#10;\begin{document}&#10;&#10;&#10;\begin{align*}&#10;t + \Delta t&#10;\end{align*}&#10;&#10;\end{document}"/>
  <p:tag name="IGUANATEXSIZE" val="18"/>
  <p:tag name="IGUANATEXCURSOR" val="109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16"/>
  <p:tag name="OUTPUTTYPE" val="PDF"/>
  <p:tag name="IGUANATEXVERSION" val="160"/>
  <p:tag name="LATEXADDIN" val="\documentclass{article}&#10;\usepackage{amsmath}&#10;\pagestyle{empty}&#10;\begin{document}&#10;&#10;&#10;\begin{align*}&#10;x(t)&#10;\end{align*}&#10;&#10;\end{document}"/>
  <p:tag name="IGUANATEXSIZE" val="18"/>
  <p:tag name="IGUANATEXCURSOR" val="100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40"/>
  <p:tag name="OUTPUTTYPE" val="PDF"/>
  <p:tag name="IGUANATEXVERSION" val="160"/>
  <p:tag name="LATEXADDIN" val="\documentclass{article}&#10;\usepackage{amsmath}&#10;\pagestyle{empty}&#10;\begin{document}&#10;&#10;&#10;\begin{align*}&#10;x(t+\Delta t)&#10;\end{align*}&#10;&#10;\end{document}"/>
  <p:tag name="IGUANATEXSIZE" val="18"/>
  <p:tag name="IGUANATEXCURSOR" val="109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100"/>
  <p:tag name="OUTPUTTYPE" val="PDF"/>
  <p:tag name="IGUANATEXVERSION" val="160"/>
  <p:tag name="LATEXADDIN" val="\documentclass{article}&#10;\usepackage{amsmath}&#10;\pagestyle{empty}&#10;\begin{document}&#10;&#10;&#10;\begin{align*}&#10;\Delta x = \&#10;x(t+\Delta t)- x(t)&#10;\end{align*}&#10;&#10;\end{document}"/>
  <p:tag name="IGUANATEXSIZE" val="18"/>
  <p:tag name="IGUANATEXCURSOR" val="110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30"/>
  <p:tag name="OUTPUTTYPE" val="PDF"/>
  <p:tag name="IGUANATEXVERSION" val="160"/>
  <p:tag name="LATEXADDIN" val="\documentclass{article}&#10;\usepackage{amsmath}&#10;\usepackage{xcolor}&#10;\pagestyle{empty}&#10;\begin{document}&#10;&#10;&#10;\begin{align*}&#10;\textcolor{orange}{\Delta x_{flux}}&#10;\end{align*}&#10;&#10;\end{document}"/>
  <p:tag name="IGUANATEXSIZE" val="18"/>
  <p:tag name="IGUANATEXCURSOR" val="134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56"/>
  <p:tag name="OUTPUTTYPE" val="PDF"/>
  <p:tag name="IGUANATEXVERSION" val="160"/>
  <p:tag name="LATEXADDIN" val="\documentclass{article}&#10;\usepackage{amsmath}&#10;\usepackage{xcolor}&#10;\pagestyle{empty}&#10;\begin{document}&#10;&#10;&#10;\begin{align*}&#10;\Delta x - \textcolor{orange}{\Delta x_{flux}}\\&#10;%&amp;= \textcolor[RGB]{128,0,180}{C \cdot s}&#10;\end{align*}&#10;&#10;\end{document}"/>
  <p:tag name="IGUANATEXSIZE" val="18"/>
  <p:tag name="IGUANATEXCURSOR" val="117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"/>
  <p:tag name="ORIGINALWIDTH" val="3"/>
  <p:tag name="OUTPUTTYPE" val="PDF"/>
  <p:tag name="IGUANATEXVERSION" val="160"/>
  <p:tag name="LATEXADDIN" val="\documentclass{article}&#10;\usepackage{amsmath}&#10;\pagestyle{empty}&#10;\begin{document}&#10;&#10;&#10;\begin{align*}&#10;t&#10;\end{align*}&#10;&#10;\end{document}"/>
  <p:tag name="IGUANATEXSIZE" val="18"/>
  <p:tag name="IGUANATEXCURSOR" val="98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27"/>
  <p:tag name="OUTPUTTYPE" val="PDF"/>
  <p:tag name="IGUANATEXVERSION" val="160"/>
  <p:tag name="LATEXADDIN" val="\documentclass{article}&#10;\usepackage{amsmath}&#10;\pagestyle{empty}&#10;\begin{document}&#10;&#10;&#10;\begin{align*}&#10;t + \Delta t&#10;\end{align*}&#10;&#10;\end{document}"/>
  <p:tag name="IGUANATEXSIZE" val="18"/>
  <p:tag name="IGUANATEXCURSOR" val="109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19"/>
  <p:tag name="OUTPUTTYPE" val="PDF"/>
  <p:tag name="IGUANATEXVERSION" val="160"/>
  <p:tag name="LATEXADDIN" val="\documentclass{article}&#10;\usepackage{amsmath}&#10;\usepackage{xcolor}&#10;\pagestyle{empty}&#10;\begin{document}&#10;&#10;&#10;\begin{align*}&#10; \textcolor[RGB]{128,0,180}{C \cdot s}&#10;\end{align*}&#10;&#10;\end{document}"/>
  <p:tag name="IGUANATEXSIZE" val="18"/>
  <p:tag name="IGUANATEXCURSOR" val="117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16"/>
  <p:tag name="OUTPUTTYPE" val="PDF"/>
  <p:tag name="IGUANATEXVERSION" val="160"/>
  <p:tag name="LATEXADDIN" val="\documentclass{article}&#10;\usepackage{amsmath}&#10;\pagestyle{empty}&#10;\begin{document}&#10;&#10;&#10;\begin{align*}&#10;x(t)&#10;\end{align*}&#10;&#10;\end{document}"/>
  <p:tag name="IGUANATEXSIZE" val="18"/>
  <p:tag name="IGUANATEXCURSOR" val="100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40"/>
  <p:tag name="OUTPUTTYPE" val="PDF"/>
  <p:tag name="IGUANATEXVERSION" val="160"/>
  <p:tag name="LATEXADDIN" val="\documentclass{article}&#10;\usepackage{amsmath}&#10;\pagestyle{empty}&#10;\begin{document}&#10;&#10;&#10;\begin{align*}&#10;x(t+\Delta t)&#10;\end{align*}&#10;&#10;\end{document}"/>
  <p:tag name="IGUANATEXSIZE" val="18"/>
  <p:tag name="IGUANATEXCURSOR" val="109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100"/>
  <p:tag name="OUTPUTTYPE" val="PDF"/>
  <p:tag name="IGUANATEXVERSION" val="160"/>
  <p:tag name="LATEXADDIN" val="\documentclass{article}&#10;\usepackage{amsmath}&#10;\pagestyle{empty}&#10;\begin{document}&#10;&#10;&#10;\begin{align*}&#10;\Delta x = \&#10;x(t+\Delta t)- x(t)&#10;\end{align*}&#10;&#10;\end{document}"/>
  <p:tag name="IGUANATEXSIZE" val="18"/>
  <p:tag name="IGUANATEXCURSOR" val="110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30"/>
  <p:tag name="OUTPUTTYPE" val="PDF"/>
  <p:tag name="IGUANATEXVERSION" val="160"/>
  <p:tag name="LATEXADDIN" val="\documentclass{article}&#10;\usepackage{amsmath}&#10;\usepackage{xcolor}&#10;\pagestyle{empty}&#10;\begin{document}&#10;&#10;&#10;\begin{align*}&#10;\textcolor{orange}{\Delta x_{flux}}&#10;\end{align*}&#10;&#10;\end{document}"/>
  <p:tag name="IGUANATEXSIZE" val="18"/>
  <p:tag name="IGUANATEXCURSOR" val="134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56"/>
  <p:tag name="OUTPUTTYPE" val="PDF"/>
  <p:tag name="IGUANATEXVERSION" val="160"/>
  <p:tag name="LATEXADDIN" val="\documentclass{article}&#10;\usepackage{amsmath}&#10;\usepackage{xcolor}&#10;\pagestyle{empty}&#10;\begin{document}&#10;&#10;&#10;\begin{align*}&#10;\Delta x - \textcolor{orange}{\Delta x_{flux}}\\&#10;%&amp;= \textcolor[RGB]{128,0,180}{C \cdot s}&#10;\end{align*}&#10;&#10;\end{document}"/>
  <p:tag name="IGUANATEXSIZE" val="18"/>
  <p:tag name="IGUANATEXCURSOR" val="117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"/>
  <p:tag name="ORIGINALWIDTH" val="3"/>
  <p:tag name="OUTPUTTYPE" val="PDF"/>
  <p:tag name="IGUANATEXVERSION" val="160"/>
  <p:tag name="LATEXADDIN" val="\documentclass{article}&#10;\usepackage{amsmath}&#10;\pagestyle{empty}&#10;\begin{document}&#10;&#10;&#10;\begin{align*}&#10;t&#10;\end{align*}&#10;&#10;\end{document}"/>
  <p:tag name="IGUANATEXSIZE" val="18"/>
  <p:tag name="IGUANATEXCURSOR" val="98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27"/>
  <p:tag name="OUTPUTTYPE" val="PDF"/>
  <p:tag name="IGUANATEXVERSION" val="160"/>
  <p:tag name="LATEXADDIN" val="\documentclass{article}&#10;\usepackage{amsmath}&#10;\pagestyle{empty}&#10;\begin{document}&#10;&#10;&#10;\begin{align*}&#10;t + \Delta t&#10;\end{align*}&#10;&#10;\end{document}"/>
  <p:tag name="IGUANATEXSIZE" val="18"/>
  <p:tag name="IGUANATEXCURSOR" val="109"/>
  <p:tag name="TRANSPARENCY" val="True"/>
  <p:tag name="LATEXENGINEID" val="0"/>
  <p:tag name="TEMPFOLDER" val="/Users/yiruigao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2821</TotalTime>
  <Words>62</Words>
  <Application>Microsoft Macintosh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yirui gao</dc:creator>
  <cp:lastModifiedBy>yirui gao</cp:lastModifiedBy>
  <cp:revision>13</cp:revision>
  <dcterms:created xsi:type="dcterms:W3CDTF">2026-04-07T03:17:01Z</dcterms:created>
  <dcterms:modified xsi:type="dcterms:W3CDTF">2026-04-10T22:18:25Z</dcterms:modified>
</cp:coreProperties>
</file>